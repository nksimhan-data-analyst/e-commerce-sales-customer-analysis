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Revenue (₹ Cr)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&quot;₹&quot;0.00&quot; Cr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9.42</c:v>
                </c:pt>
                <c:pt idx="1">
                  <c:v>21.51</c:v>
                </c:pt>
                <c:pt idx="2">
                  <c:v>37.57</c:v>
                </c:pt>
              </c:numCache>
            </c:numRef>
          </c:val>
        </c:ser>
        <c:dLbls>
          <c:numFmt formatCode="&quot;₹&quot;0.00&quot; Cr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7ED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7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Recorded Profit Margin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0% discount</c:v>
                  </c:pt>
                  <c:pt idx="1">
                    <c:v>15% discount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25.14</c:v>
                </c:pt>
                <c:pt idx="1">
                  <c:v>11.97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2E7ED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7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days (order → shipping)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0&quot; d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2A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Same Day</c:v>
                  </c:pt>
                  <c:pt idx="1">
                    <c:v>Express</c:v>
                  </c:pt>
                  <c:pt idx="2">
                    <c:v>Standard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dLbls>
          <c:numFmt formatCode="0&quot; d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B2A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2E7ED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7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4160520"/>
            <a:ext cx="310896" cy="91440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3" name="Shape 1"/>
          <p:cNvSpPr/>
          <p:nvPr/>
        </p:nvSpPr>
        <p:spPr>
          <a:xfrm>
            <a:off x="9208008" y="3657600"/>
            <a:ext cx="310896" cy="141732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4" name="Shape 2"/>
          <p:cNvSpPr/>
          <p:nvPr/>
        </p:nvSpPr>
        <p:spPr>
          <a:xfrm>
            <a:off x="9683496" y="3886200"/>
            <a:ext cx="310896" cy="118872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5" name="Shape 3"/>
          <p:cNvSpPr/>
          <p:nvPr/>
        </p:nvSpPr>
        <p:spPr>
          <a:xfrm>
            <a:off x="10158984" y="3200400"/>
            <a:ext cx="310896" cy="187452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6" name="Shape 4"/>
          <p:cNvSpPr/>
          <p:nvPr/>
        </p:nvSpPr>
        <p:spPr>
          <a:xfrm>
            <a:off x="10634472" y="3474720"/>
            <a:ext cx="310896" cy="160020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7" name="Shape 5"/>
          <p:cNvSpPr/>
          <p:nvPr/>
        </p:nvSpPr>
        <p:spPr>
          <a:xfrm>
            <a:off x="11109960" y="2743200"/>
            <a:ext cx="310896" cy="233172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8" name="Shape 6"/>
          <p:cNvSpPr/>
          <p:nvPr/>
        </p:nvSpPr>
        <p:spPr>
          <a:xfrm>
            <a:off x="11585448" y="3063240"/>
            <a:ext cx="310896" cy="2011680"/>
          </a:xfrm>
          <a:prstGeom prst="roundRect">
            <a:avLst>
              <a:gd name="adj" fmla="val 11765"/>
            </a:avLst>
          </a:prstGeom>
          <a:solidFill>
            <a:srgbClr val="2A3B5C"/>
          </a:solidFill>
          <a:ln/>
        </p:spPr>
      </p:sp>
      <p:sp>
        <p:nvSpPr>
          <p:cNvPr id="9" name="Shape 7"/>
          <p:cNvSpPr/>
          <p:nvPr/>
        </p:nvSpPr>
        <p:spPr>
          <a:xfrm>
            <a:off x="12060936" y="2240280"/>
            <a:ext cx="310896" cy="2834640"/>
          </a:xfrm>
          <a:prstGeom prst="roundRect">
            <a:avLst>
              <a:gd name="adj" fmla="val 11765"/>
            </a:avLst>
          </a:prstGeom>
          <a:solidFill>
            <a:srgbClr val="0E7C86"/>
          </a:solidFill>
          <a:ln/>
        </p:spPr>
      </p:sp>
      <p:sp>
        <p:nvSpPr>
          <p:cNvPr id="10" name="Shape 8"/>
          <p:cNvSpPr/>
          <p:nvPr/>
        </p:nvSpPr>
        <p:spPr>
          <a:xfrm>
            <a:off x="8595360" y="5074920"/>
            <a:ext cx="3803904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084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2450592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</a:t>
            </a:r>
            <a:endParaRPr lang="en-US" sz="44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41605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case study: from raw transactional data to a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four-page interactive Power BI decision-support dashboard.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5212080"/>
            <a:ext cx="910285" cy="329184"/>
          </a:xfrm>
          <a:prstGeom prst="roundRect">
            <a:avLst>
              <a:gd name="adj" fmla="val 50000"/>
            </a:avLst>
          </a:prstGeom>
          <a:solidFill>
            <a:srgbClr val="233052"/>
          </a:solidFill>
          <a:ln w="9525">
            <a:solidFill>
              <a:srgbClr val="AAB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5212080"/>
            <a:ext cx="9102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559509" y="5212080"/>
            <a:ext cx="910285" cy="329184"/>
          </a:xfrm>
          <a:prstGeom prst="roundRect">
            <a:avLst>
              <a:gd name="adj" fmla="val 50000"/>
            </a:avLst>
          </a:prstGeom>
          <a:solidFill>
            <a:srgbClr val="233052"/>
          </a:solidFill>
          <a:ln w="9525">
            <a:solidFill>
              <a:srgbClr val="AAB6C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9509" y="5212080"/>
            <a:ext cx="9102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16098" y="5212080"/>
            <a:ext cx="1509674" cy="329184"/>
          </a:xfrm>
          <a:prstGeom prst="roundRect">
            <a:avLst>
              <a:gd name="adj" fmla="val 50000"/>
            </a:avLst>
          </a:prstGeom>
          <a:solidFill>
            <a:srgbClr val="233052"/>
          </a:solidFill>
          <a:ln w="9525">
            <a:solidFill>
              <a:srgbClr val="AAB6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16098" y="5212080"/>
            <a:ext cx="15096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DuckDB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72077" y="5212080"/>
            <a:ext cx="1110082" cy="329184"/>
          </a:xfrm>
          <a:prstGeom prst="roundRect">
            <a:avLst>
              <a:gd name="adj" fmla="val 50000"/>
            </a:avLst>
          </a:prstGeom>
          <a:solidFill>
            <a:srgbClr val="233052"/>
          </a:solidFill>
          <a:ln w="9525">
            <a:solidFill>
              <a:srgbClr val="AAB6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72077" y="5212080"/>
            <a:ext cx="11100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528462" y="5212080"/>
            <a:ext cx="610591" cy="329184"/>
          </a:xfrm>
          <a:prstGeom prst="roundRect">
            <a:avLst>
              <a:gd name="adj" fmla="val 50000"/>
            </a:avLst>
          </a:prstGeom>
          <a:solidFill>
            <a:srgbClr val="233052"/>
          </a:solidFill>
          <a:ln w="9525">
            <a:solidFill>
              <a:srgbClr val="AAB6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28462" y="5212080"/>
            <a:ext cx="6105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85357" y="5212080"/>
            <a:ext cx="910285" cy="329184"/>
          </a:xfrm>
          <a:prstGeom prst="roundRect">
            <a:avLst>
              <a:gd name="adj" fmla="val 50000"/>
            </a:avLst>
          </a:prstGeom>
          <a:solidFill>
            <a:srgbClr val="233052"/>
          </a:solidFill>
          <a:ln w="9525">
            <a:solidFill>
              <a:srgbClr val="AAB6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85357" y="5212080"/>
            <a:ext cx="9102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· 2023–2025 · Created for educational &amp; portfolio purposes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Transactions Into Business Decisions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questions framed the entire analysis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" y="244144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57400"/>
            <a:ext cx="435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revenue and profit change over time?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24448" y="2057400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43904" y="2441448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43904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47408" y="2057400"/>
            <a:ext cx="435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and categories drive revenue and profitability?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" y="384962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65576"/>
            <a:ext cx="435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and customers contribute the most value?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24448" y="3465576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43904" y="3849624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43904" y="38496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147408" y="3465576"/>
            <a:ext cx="435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sales concentrated geographically?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873752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2376" y="525780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2376" y="5257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873752"/>
            <a:ext cx="435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discounts relate to recorded profitability?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24448" y="4873752"/>
            <a:ext cx="5364328" cy="1207008"/>
          </a:xfrm>
          <a:prstGeom prst="roundRect">
            <a:avLst>
              <a:gd name="adj" fmla="val 606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43904" y="5257800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43904" y="5257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147408" y="4873752"/>
            <a:ext cx="4358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shipping methods dominate volume and shipping time?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SCOPE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Synthetic, Multi-Table E-Commerce Dataset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related tables covering 2023–2025, built with intentional data-quality issues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711909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121408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57784" y="2660904"/>
            <a:ext cx="1602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7709" y="1965960"/>
            <a:ext cx="1711909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397709" y="2121408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2452573" y="2660904"/>
            <a:ext cx="1602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(cleaned)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2498" y="1965960"/>
            <a:ext cx="1711909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92498" y="2121408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43,074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347362" y="2660904"/>
            <a:ext cx="1602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1711909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87288" y="2121408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6242152" y="2660904"/>
            <a:ext cx="1602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82077" y="1965960"/>
            <a:ext cx="1711909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82077" y="2121408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136941" y="2660904"/>
            <a:ext cx="1602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976866" y="1965960"/>
            <a:ext cx="1711909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976866" y="2121408"/>
            <a:ext cx="171190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1,096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10031730" y="2660904"/>
            <a:ext cx="160218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SOURCE TABLES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794760"/>
            <a:ext cx="1711909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" y="3922776"/>
            <a:ext cx="1565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76072" y="4270248"/>
            <a:ext cx="1565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rows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97709" y="3794760"/>
            <a:ext cx="1711909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470861" y="3922776"/>
            <a:ext cx="1565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470861" y="4270248"/>
            <a:ext cx="1565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504 rows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92498" y="3794760"/>
            <a:ext cx="1711909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365650" y="3922776"/>
            <a:ext cx="1565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365650" y="4270248"/>
            <a:ext cx="1565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rows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87288" y="3794760"/>
            <a:ext cx="1711909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0440" y="3922776"/>
            <a:ext cx="1565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260440" y="4270248"/>
            <a:ext cx="1565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 rows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82077" y="3794760"/>
            <a:ext cx="1711909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55229" y="3922776"/>
            <a:ext cx="1565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155229" y="4270248"/>
            <a:ext cx="1565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43,074 rows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76866" y="3794760"/>
            <a:ext cx="1711909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050018" y="3922776"/>
            <a:ext cx="156560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10050018" y="4270248"/>
            <a:ext cx="156560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1,096 rows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782312"/>
            <a:ext cx="73152" cy="731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58952" y="466344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2023–2025 (three full calendar years)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166360"/>
            <a:ext cx="73152" cy="731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58952" y="5047488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— built for educational and portfolio purposes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550408"/>
            <a:ext cx="73152" cy="731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58952" y="5431536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intentional data-quality issues to practice validation and anomaly detection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WORKFLOW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Six-Stage Analytics Workflow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files to a documented, decision-ready dashboard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1799" y="232257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31799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2907792"/>
            <a:ext cx="1550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0936" y="3310128"/>
            <a:ext cx="144063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Schemas, missing values, duplicates, relationships, integrity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199589" y="32232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00757" y="210312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29636" y="232257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29636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73909" y="2907792"/>
            <a:ext cx="1550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528773" y="3310128"/>
            <a:ext cx="144063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text, remove exact duplicates, convert dates, preserve explainable gaps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097426" y="32232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98594" y="210312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27473" y="232257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27473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371746" y="2907792"/>
            <a:ext cx="1550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426610" y="3310128"/>
            <a:ext cx="144063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products, customers, geography, discounts, shipping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995264" y="32232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6432" y="210312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25310" y="232257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25310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69584" y="2907792"/>
            <a:ext cx="1550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324448" y="3310128"/>
            <a:ext cx="144063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Business-focused SQL analysis using DuckDB over local CSV files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893101" y="32232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94269" y="210312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23147" y="2322576"/>
            <a:ext cx="438912" cy="43891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723147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67421" y="2907792"/>
            <a:ext cx="1550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22285" y="3310128"/>
            <a:ext cx="144063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Power BI model with DAX measures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790938" y="3223260"/>
            <a:ext cx="201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92106" y="2103120"/>
            <a:ext cx="1696669" cy="3246120"/>
          </a:xfrm>
          <a:prstGeom prst="roundRect">
            <a:avLst>
              <a:gd name="adj" fmla="val 4312"/>
            </a:avLst>
          </a:prstGeom>
          <a:solidFill>
            <a:srgbClr val="1B2A4A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20985" y="2322576"/>
            <a:ext cx="438912" cy="43891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620985" y="2322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065258" y="2907792"/>
            <a:ext cx="15503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10120122" y="3310128"/>
            <a:ext cx="1440637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Four-page interactive dashboard and documented findings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CLEANING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Data-Quality Issue Was Investigated, Not Assumed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were documented and resolved deliberately — never silently corrected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11460175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011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order records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42855" y="20939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42855" y="20939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68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4688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had missing customer segments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42855" y="25511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479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42855" y="25511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11460175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29260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names had whitespace issues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042855" y="30083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042855" y="3008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383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3832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customer-segment values had inconsistent casing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42855" y="34655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42855" y="34655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11460175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2920" y="3840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38404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names had inconsistent casing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42855" y="39227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042855" y="39227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297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2976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outliers (99 units)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0042855" y="43799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4791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42855" y="43799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&amp; preserved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754880"/>
            <a:ext cx="11460175" cy="4572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02920" y="4754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+ 3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417320" y="47548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discrepancies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042855" y="48371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C4791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0042855" y="48371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&amp; preserved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5212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417320" y="5212080"/>
            <a:ext cx="8351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&amp; pricing relationship checks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042855" y="5294376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042855" y="529437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SNAPSHOT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Snapshot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transaction metrics — includes cancelled and returned orders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4088" y="2276856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₹68.49 Cr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30175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Revenue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45104" y="2057400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6272" y="2276856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₹14.72 Cr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46272" y="30175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Profit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87288" y="2057400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88456" y="2276856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388456" y="30175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29471" y="2057400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0639" y="2276856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4,175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230639" y="3017520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Customers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813048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4032504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₹27,395.57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" y="477316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345104" y="3813048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46272" y="4032504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21.50%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546272" y="477316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87288" y="3813048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8456" y="4032504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388456" y="477316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29471" y="3813048"/>
            <a:ext cx="2659304" cy="1572768"/>
          </a:xfrm>
          <a:prstGeom prst="roundRect">
            <a:avLst>
              <a:gd name="adj" fmla="val 4651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30639" y="4032504"/>
            <a:ext cx="2293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230639" y="4773168"/>
            <a:ext cx="229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ORDERS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Was Driven Mainly by Order Volume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revenue nearly quadrupled from 2023 to 2025, tracking order-volume growth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965960"/>
          <a:ext cx="69494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02920" y="577900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3,323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089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2023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2819400" y="577900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7,981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819400" y="6089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2024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135880" y="5779008"/>
            <a:ext cx="231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13,696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135880" y="608990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2025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863840" y="1965960"/>
            <a:ext cx="3824935" cy="4389120"/>
          </a:xfrm>
          <a:prstGeom prst="roundRect">
            <a:avLst>
              <a:gd name="adj" fmla="val 1913"/>
            </a:avLst>
          </a:prstGeom>
          <a:solidFill>
            <a:srgbClr val="F4F6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92440" y="2194560"/>
            <a:ext cx="3367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TREND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92440" y="2651760"/>
            <a:ext cx="73152" cy="731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21040" y="2542032"/>
            <a:ext cx="3139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stayed roughly stable (~₹27K–₹28K) across all three years.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92440" y="3611880"/>
            <a:ext cx="73152" cy="731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3502152"/>
            <a:ext cx="3139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coincided with substantial growth in order volume, not with rising order size.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092440" y="4572000"/>
            <a:ext cx="73152" cy="7315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21040" y="4462272"/>
            <a:ext cx="3139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 nearly quadrupled from 3,323 (2023) to 13,696 (2025).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CATEGORY PERFORMANCE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Revenue — Smaller Categories Lead Margin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 that generate the most revenue are not the most profitable ones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364328" cy="3931920"/>
          </a:xfrm>
          <a:prstGeom prst="roundRect">
            <a:avLst>
              <a:gd name="adj" fmla="val 186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RECORDED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07592" y="2862072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379476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3776472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Tablets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470916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307592" y="4690872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Accessories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5166360"/>
            <a:ext cx="4815688" cy="0"/>
          </a:xfrm>
          <a:prstGeom prst="line">
            <a:avLst/>
          </a:prstGeom>
          <a:noFill/>
          <a:ln w="12700">
            <a:solidFill>
              <a:srgbClr val="2E3E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21808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products contributed heavily to recorded revenue, making product-level monitoring important.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24448" y="2011680"/>
            <a:ext cx="5364328" cy="3931920"/>
          </a:xfrm>
          <a:prstGeom prst="roundRect">
            <a:avLst>
              <a:gd name="adj" fmla="val 1860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98768" y="2304288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RECORDED MARGIN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98768" y="28803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9876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129120" y="2862072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98768" y="37947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9876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29120" y="3776472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98768" y="4709160"/>
            <a:ext cx="384048" cy="38404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98768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29120" y="4690872"/>
            <a:ext cx="426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598768" y="5166360"/>
            <a:ext cx="4815688" cy="0"/>
          </a:xfrm>
          <a:prstGeom prst="line">
            <a:avLst/>
          </a:prstGeom>
          <a:noFill/>
          <a:ln w="12700">
            <a:solidFill>
              <a:srgbClr val="E2E7E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98768" y="5321808"/>
            <a:ext cx="4815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categories showed substantially higher recorded profit margins than the large technology categories.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&amp; SEGMENTATION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Group of High-Value Customers Drives Disproportionate Revenue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customers lead recorded revenue per customer among defined segments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364328" cy="3977640"/>
          </a:xfrm>
          <a:prstGeom prst="roundRect">
            <a:avLst>
              <a:gd name="adj" fmla="val 1839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2860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BY RECORDED VALUE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798064"/>
            <a:ext cx="48156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2980944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41832" y="2980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16936"/>
            <a:ext cx="394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218688"/>
            <a:ext cx="394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recorded revenue per customer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" y="3785616"/>
            <a:ext cx="48156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" y="3968496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3968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904488"/>
            <a:ext cx="394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206240"/>
            <a:ext cx="394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recorded revenue and profit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773168"/>
            <a:ext cx="4815688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4956048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1832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4892040"/>
            <a:ext cx="394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5193792"/>
            <a:ext cx="394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recorded revenue and profit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24448" y="2011680"/>
            <a:ext cx="5364328" cy="1874520"/>
          </a:xfrm>
          <a:prstGeom prst="roundRect">
            <a:avLst>
              <a:gd name="adj" fmla="val 3902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98768" y="2286000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98768" y="2670048"/>
            <a:ext cx="48156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relatively small group of high-value customers generated a disproportionate share of recorded revenue.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24448" y="4114800"/>
            <a:ext cx="5364328" cy="1874520"/>
          </a:xfrm>
          <a:prstGeom prst="roundRect">
            <a:avLst>
              <a:gd name="adj" fmla="val 3902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98768" y="4370832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4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NOTE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598768" y="4736592"/>
            <a:ext cx="481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customer segments were treated as a data-quality category, not as a business segment.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the South, Led by Maharashtra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revenue varies meaningfully across India's six regions and states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5364328" cy="3977640"/>
          </a:xfrm>
          <a:prstGeom prst="roundRect">
            <a:avLst>
              <a:gd name="adj" fmla="val 1839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22576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 · OF 6 REGIONS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70048"/>
            <a:ext cx="4815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48156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the highest recorded revenue among the six regions.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4526280"/>
            <a:ext cx="4815688" cy="0"/>
          </a:xfrm>
          <a:prstGeom prst="line">
            <a:avLst/>
          </a:prstGeom>
          <a:noFill/>
          <a:ln w="1270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736592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BI report uses an India Shape Map for interactive state-level revenue exploration.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2011680"/>
            <a:ext cx="5364328" cy="3977640"/>
          </a:xfrm>
          <a:prstGeom prst="roundRect">
            <a:avLst>
              <a:gd name="adj" fmla="val 1839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322576"/>
            <a:ext cx="481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HIGHEST-REVENUE STATES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98768" y="292608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98768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65696" y="2944368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598768" y="3913632"/>
            <a:ext cx="420624" cy="420624"/>
          </a:xfrm>
          <a:prstGeom prst="ellipse">
            <a:avLst/>
          </a:prstGeom>
          <a:solidFill>
            <a:srgbClr val="2E3E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98768" y="3913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65696" y="3931920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98768" y="4901184"/>
            <a:ext cx="420624" cy="420624"/>
          </a:xfrm>
          <a:prstGeom prst="ellipse">
            <a:avLst/>
          </a:prstGeom>
          <a:solidFill>
            <a:srgbClr val="2E3E5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98768" y="49011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65696" y="4919472"/>
            <a:ext cx="4175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&amp; PROFITABILITY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Discounts Were Associated With Lower Recorded Margins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observational relationship — this does not establish that discounts caused the margin decline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05740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57607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BF1E4"/>
          </a:solidFill>
          <a:ln w="12700">
            <a:solidFill>
              <a:srgbClr val="C4791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5760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discount  •  Negative recorded profit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77640" y="576072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BF1E4"/>
          </a:solidFill>
          <a:ln w="12700">
            <a:solidFill>
              <a:srgbClr val="C4791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77640" y="5760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discount  •  Negative recorded profit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2057400"/>
            <a:ext cx="4053535" cy="4206240"/>
          </a:xfrm>
          <a:prstGeom prst="roundRect">
            <a:avLst>
              <a:gd name="adj" fmla="val 1805"/>
            </a:avLst>
          </a:prstGeom>
          <a:solidFill>
            <a:srgbClr val="F4F6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863840" y="228600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624328"/>
            <a:ext cx="3596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profit margin declined steadily as discount levels increased — from a healthy 25.14% at 0% discount to negative profit at the 25% and 30% discount tiers.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863840" y="4206240"/>
            <a:ext cx="3596335" cy="0"/>
          </a:xfrm>
          <a:prstGeom prst="line">
            <a:avLst/>
          </a:prstGeom>
          <a:noFill/>
          <a:ln w="12700">
            <a:solidFill>
              <a:srgbClr val="E2E7E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63840" y="4389120"/>
            <a:ext cx="35963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Association, not causation: this analysis does not establish that discounts caused the profit changes.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PERFORMANCE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Shipping Dominates Volume; Faster Methods Ship Sooner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order-to-shipping interval by shipping method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03120"/>
          <a:ext cx="6858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26680" y="2103120"/>
            <a:ext cx="3962095" cy="3291840"/>
          </a:xfrm>
          <a:prstGeom prst="roundRect">
            <a:avLst>
              <a:gd name="adj" fmla="val 2222"/>
            </a:avLst>
          </a:prstGeom>
          <a:solidFill>
            <a:srgbClr val="1B2A4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955280" y="2331720"/>
            <a:ext cx="3504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LEADER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2633472"/>
            <a:ext cx="35048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3200400"/>
            <a:ext cx="35048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Accounted for the largest number of orders among all shipping methods.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5577840"/>
            <a:ext cx="11185855" cy="50292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557784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shipping duration means order date → shipping date — not the final customer delivery time.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Four-Page Interactive Power BI Dashboard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visuals across four pages, with interactive slicers by year, segment, region, category, discount &amp; shipping method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492344" cy="2057400"/>
          </a:xfrm>
          <a:prstGeom prst="roundRect">
            <a:avLst>
              <a:gd name="adj" fmla="val 3556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488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12264"/>
            <a:ext cx="457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04088" y="2679192"/>
            <a:ext cx="114848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" y="2679192"/>
            <a:ext cx="11484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1944014" y="2679192"/>
            <a:ext cx="108265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44014" y="2679192"/>
            <a:ext cx="108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118104" y="2679192"/>
            <a:ext cx="108265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18104" y="2679192"/>
            <a:ext cx="10826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292194" y="2679192"/>
            <a:ext cx="14776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2194" y="2679192"/>
            <a:ext cx="1477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Customers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704088" y="3063240"/>
            <a:ext cx="134599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" y="3063240"/>
            <a:ext cx="134599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141525" y="3063240"/>
            <a:ext cx="114848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41525" y="3063240"/>
            <a:ext cx="11484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381451" y="306324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81451" y="3063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Year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704088" y="3447288"/>
            <a:ext cx="154350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" y="3447288"/>
            <a:ext cx="154350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339035" y="3447288"/>
            <a:ext cx="14118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9035" y="3447288"/>
            <a:ext cx="1411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196432" y="1965960"/>
            <a:ext cx="5492344" cy="2057400"/>
          </a:xfrm>
          <a:prstGeom prst="roundRect">
            <a:avLst>
              <a:gd name="adj" fmla="val 3556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7600" y="214884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9760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82232" y="2112264"/>
            <a:ext cx="457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Customer Performance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397600" y="2679192"/>
            <a:ext cx="14776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97600" y="2679192"/>
            <a:ext cx="1477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Category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966710" y="2679192"/>
            <a:ext cx="14776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966710" y="2679192"/>
            <a:ext cx="1477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Category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6397600" y="3063240"/>
            <a:ext cx="20043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97600" y="3063240"/>
            <a:ext cx="20043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8493404" y="306324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93404" y="306324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Margin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397600" y="3447288"/>
            <a:ext cx="167518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97600" y="3447288"/>
            <a:ext cx="167518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164220" y="3447288"/>
            <a:ext cx="239938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164220" y="3447288"/>
            <a:ext cx="2399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Revenue/Profit/Margin by Segment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6397600" y="3831336"/>
            <a:ext cx="2399386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397600" y="3831336"/>
            <a:ext cx="23993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Revenue/Orders/Profit by Segment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502920" y="4224528"/>
            <a:ext cx="5492344" cy="2057400"/>
          </a:xfrm>
          <a:prstGeom prst="roundRect">
            <a:avLst>
              <a:gd name="adj" fmla="val 3556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4088" y="4407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04088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188720" y="4370832"/>
            <a:ext cx="457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Geographic Analysis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04088" y="4937760"/>
            <a:ext cx="14776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04088" y="4937760"/>
            <a:ext cx="1477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2273198" y="4937760"/>
            <a:ext cx="14118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273198" y="4937760"/>
            <a:ext cx="1411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Segment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704088" y="5321808"/>
            <a:ext cx="207020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04088" y="5321808"/>
            <a:ext cx="20702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Customers by Revenue</a:t>
            </a:r>
            <a:endParaRPr lang="en-US" sz="870" dirty="0"/>
          </a:p>
        </p:txBody>
      </p:sp>
      <p:sp>
        <p:nvSpPr>
          <p:cNvPr id="55" name="Shape 53"/>
          <p:cNvSpPr/>
          <p:nvPr/>
        </p:nvSpPr>
        <p:spPr>
          <a:xfrm>
            <a:off x="2865730" y="5321808"/>
            <a:ext cx="141183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865730" y="5321808"/>
            <a:ext cx="14118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704088" y="5705856"/>
            <a:ext cx="253105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704088" y="5705856"/>
            <a:ext cx="25310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State (India Shape Map)</a:t>
            </a:r>
            <a:endParaRPr lang="en-US" sz="870" dirty="0"/>
          </a:p>
        </p:txBody>
      </p:sp>
      <p:sp>
        <p:nvSpPr>
          <p:cNvPr id="59" name="Shape 57"/>
          <p:cNvSpPr/>
          <p:nvPr/>
        </p:nvSpPr>
        <p:spPr>
          <a:xfrm>
            <a:off x="3326587" y="5705856"/>
            <a:ext cx="21360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326587" y="5705856"/>
            <a:ext cx="21360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Customers by Region</a:t>
            </a:r>
            <a:endParaRPr lang="en-US" sz="870" dirty="0"/>
          </a:p>
        </p:txBody>
      </p:sp>
      <p:sp>
        <p:nvSpPr>
          <p:cNvPr id="61" name="Shape 59"/>
          <p:cNvSpPr/>
          <p:nvPr/>
        </p:nvSpPr>
        <p:spPr>
          <a:xfrm>
            <a:off x="6196432" y="4224528"/>
            <a:ext cx="5492344" cy="2057400"/>
          </a:xfrm>
          <a:prstGeom prst="roundRect">
            <a:avLst>
              <a:gd name="adj" fmla="val 3556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97600" y="4407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39760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6882232" y="4370832"/>
            <a:ext cx="457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&amp; Shipping Analysis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397600" y="4937760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97600" y="493776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Discount Level</a:t>
            </a:r>
            <a:endParaRPr lang="en-US" sz="870" dirty="0"/>
          </a:p>
        </p:txBody>
      </p:sp>
      <p:sp>
        <p:nvSpPr>
          <p:cNvPr id="67" name="Shape 65"/>
          <p:cNvSpPr/>
          <p:nvPr/>
        </p:nvSpPr>
        <p:spPr>
          <a:xfrm>
            <a:off x="8427568" y="4937760"/>
            <a:ext cx="233354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427568" y="4937760"/>
            <a:ext cx="233354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Discount Level</a:t>
            </a:r>
            <a:endParaRPr lang="en-US" sz="870" dirty="0"/>
          </a:p>
        </p:txBody>
      </p:sp>
      <p:sp>
        <p:nvSpPr>
          <p:cNvPr id="69" name="Shape 67"/>
          <p:cNvSpPr/>
          <p:nvPr/>
        </p:nvSpPr>
        <p:spPr>
          <a:xfrm>
            <a:off x="6397600" y="5321808"/>
            <a:ext cx="18726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97600" y="5321808"/>
            <a:ext cx="187269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Discount Level</a:t>
            </a:r>
            <a:endParaRPr lang="en-US" sz="870" dirty="0"/>
          </a:p>
        </p:txBody>
      </p:sp>
      <p:sp>
        <p:nvSpPr>
          <p:cNvPr id="71" name="Shape 69"/>
          <p:cNvSpPr/>
          <p:nvPr/>
        </p:nvSpPr>
        <p:spPr>
          <a:xfrm>
            <a:off x="8361731" y="5321808"/>
            <a:ext cx="20043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361731" y="5321808"/>
            <a:ext cx="200436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Shipping Method</a:t>
            </a:r>
            <a:endParaRPr lang="en-US" sz="870" dirty="0"/>
          </a:p>
        </p:txBody>
      </p:sp>
      <p:sp>
        <p:nvSpPr>
          <p:cNvPr id="73" name="Shape 71"/>
          <p:cNvSpPr/>
          <p:nvPr/>
        </p:nvSpPr>
        <p:spPr>
          <a:xfrm>
            <a:off x="6397600" y="5705856"/>
            <a:ext cx="193852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397600" y="5705856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Shipping Method</a:t>
            </a:r>
            <a:endParaRPr lang="en-US" sz="870" dirty="0"/>
          </a:p>
        </p:txBody>
      </p:sp>
      <p:sp>
        <p:nvSpPr>
          <p:cNvPr id="75" name="Shape 73"/>
          <p:cNvSpPr/>
          <p:nvPr/>
        </p:nvSpPr>
        <p:spPr>
          <a:xfrm>
            <a:off x="8427568" y="5705856"/>
            <a:ext cx="21360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8427568" y="5705856"/>
            <a:ext cx="21360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Shipping Days by Method</a:t>
            </a:r>
            <a:endParaRPr lang="en-US" sz="870" dirty="0"/>
          </a:p>
        </p:txBody>
      </p:sp>
      <p:sp>
        <p:nvSpPr>
          <p:cNvPr id="77" name="Text 75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 Across the Analytics Lifecycle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capabilities spanning data foundations, analysis, and communication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9864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Foundations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77240" y="3593592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3465576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inspection and validation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427024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78408" y="4142232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anomaly detection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946904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8408" y="4818888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with Python / Pandas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22978" y="205740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4597298" y="2331720"/>
            <a:ext cx="420624" cy="420624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7298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97298" y="289864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Modeling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4597298" y="3593592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98466" y="3465576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Business-oriented SQL with DuckDB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97298" y="427024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98466" y="4142232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modeling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97298" y="4946904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98466" y="4818888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KPI and analytical measure development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43037" y="205740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F7F9FB"/>
          </a:solidFill>
          <a:ln w="12700">
            <a:solidFill>
              <a:srgbClr val="E2E7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7357" y="2331720"/>
            <a:ext cx="420624" cy="42062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417357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417357" y="289864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Tooling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8417357" y="3593592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618525" y="3465576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 and storytelling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417357" y="4270248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618525" y="4142232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generation and documentation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17357" y="4946904"/>
            <a:ext cx="64008" cy="640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18525" y="4818888"/>
            <a:ext cx="279593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 version control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ASSUMPTIONS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Assumptions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111858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finding in this deck alongside these caveats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1185855" cy="649224"/>
          </a:xfrm>
          <a:prstGeom prst="roundRect">
            <a:avLst>
              <a:gd name="adj" fmla="val 8451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226564"/>
            <a:ext cx="310896" cy="310896"/>
          </a:xfrm>
          <a:prstGeom prst="ellipse">
            <a:avLst/>
          </a:prstGeom>
          <a:solidFill>
            <a:srgbClr val="C479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22265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57400"/>
            <a:ext cx="102714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synthetic; findings should not be interpreted as real-world market results.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11185855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3003804"/>
            <a:ext cx="310896" cy="310896"/>
          </a:xfrm>
          <a:prstGeom prst="ellipse">
            <a:avLst/>
          </a:prstGeom>
          <a:solidFill>
            <a:srgbClr val="C479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30038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834640"/>
            <a:ext cx="102714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revenue and profit include cancelled and returned orders, so they should not automatically be treated as realized net sales.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611880"/>
            <a:ext cx="11185855" cy="649224"/>
          </a:xfrm>
          <a:prstGeom prst="roundRect">
            <a:avLst>
              <a:gd name="adj" fmla="val 8451"/>
            </a:avLst>
          </a:prstGeom>
          <a:solidFill>
            <a:srgbClr val="F4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3781044"/>
            <a:ext cx="310896" cy="310896"/>
          </a:xfrm>
          <a:prstGeom prst="ellipse">
            <a:avLst/>
          </a:prstGeom>
          <a:solidFill>
            <a:srgbClr val="C479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7512" y="3781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611880"/>
            <a:ext cx="102714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quantity outliers and three financial discrepancies (revenue and profit) were preserved as documented exceptions rather than corrected.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11185855" cy="649224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" y="4558284"/>
            <a:ext cx="310896" cy="310896"/>
          </a:xfrm>
          <a:prstGeom prst="ellipse">
            <a:avLst/>
          </a:prstGeom>
          <a:solidFill>
            <a:srgbClr val="C479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" y="45582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4389120"/>
            <a:ext cx="102714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duration is order-to-shipping time, not customer delivery time.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5166360"/>
            <a:ext cx="11185855" cy="649224"/>
          </a:xfrm>
          <a:prstGeom prst="roundRect">
            <a:avLst>
              <a:gd name="adj" fmla="val 8451"/>
            </a:avLst>
          </a:prstGeom>
          <a:solidFill>
            <a:srgbClr val="F4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512" y="5335524"/>
            <a:ext cx="310896" cy="310896"/>
          </a:xfrm>
          <a:prstGeom prst="ellipse">
            <a:avLst/>
          </a:prstGeom>
          <a:solidFill>
            <a:srgbClr val="C479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7512" y="53355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166360"/>
            <a:ext cx="102714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7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and profit relationships are observational rather than causal.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0317175" y="6473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OUTCOME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Data to a Business-Ready Decision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606040"/>
            <a:ext cx="1834835" cy="960120"/>
          </a:xfrm>
          <a:prstGeom prst="roundRect">
            <a:avLst>
              <a:gd name="adj" fmla="val 7619"/>
            </a:avLst>
          </a:prstGeom>
          <a:solidFill>
            <a:srgbClr val="1E2E52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606040"/>
            <a:ext cx="16519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2337755" y="26060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40675" y="2606040"/>
            <a:ext cx="1834835" cy="960120"/>
          </a:xfrm>
          <a:prstGeom prst="roundRect">
            <a:avLst>
              <a:gd name="adj" fmla="val 7619"/>
            </a:avLst>
          </a:prstGeom>
          <a:solidFill>
            <a:srgbClr val="1E2E52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32115" y="2606040"/>
            <a:ext cx="16519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675510" y="26060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78430" y="2606040"/>
            <a:ext cx="1834835" cy="960120"/>
          </a:xfrm>
          <a:prstGeom prst="roundRect">
            <a:avLst>
              <a:gd name="adj" fmla="val 7619"/>
            </a:avLst>
          </a:prstGeom>
          <a:solidFill>
            <a:srgbClr val="1E2E52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69870" y="2606040"/>
            <a:ext cx="16519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013265" y="26060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16185" y="2606040"/>
            <a:ext cx="1834835" cy="960120"/>
          </a:xfrm>
          <a:prstGeom prst="roundRect">
            <a:avLst>
              <a:gd name="adj" fmla="val 7619"/>
            </a:avLst>
          </a:prstGeom>
          <a:solidFill>
            <a:srgbClr val="1E2E52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07625" y="2606040"/>
            <a:ext cx="16519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+ DAX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351020" y="260604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853940" y="2606040"/>
            <a:ext cx="1834835" cy="960120"/>
          </a:xfrm>
          <a:prstGeom prst="roundRect">
            <a:avLst>
              <a:gd name="adj" fmla="val 7619"/>
            </a:avLst>
          </a:prstGeom>
          <a:solidFill>
            <a:srgbClr val="0E7C86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945380" y="2606040"/>
            <a:ext cx="16519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8862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A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data → validated and cleaned → explored in Python → queried with SQL → modeled and visualized in Power BI with DAX → published as a reproducible GitHub portfolio project.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663440"/>
            <a:ext cx="11185855" cy="0"/>
          </a:xfrm>
          <a:prstGeom prst="line">
            <a:avLst/>
          </a:prstGeom>
          <a:noFill/>
          <a:ln w="12700">
            <a:solidFill>
              <a:srgbClr val="2E3E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84632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2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DATA  →  PROCESS  →  ANALYSIS  →  INSIGHTS  →  DASHBOARD  →  SKILLS  →  OUTCOME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3550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&amp; Customer Analysis  •  Data Analyst Portfolio Project  •  Synthetic dataset, 2023–2025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 Analyst Portfolio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&amp; Customer Analysis</dc:title>
  <dc:subject>PptxGenJS Presentation</dc:subject>
  <dc:creator>Simhan</dc:creator>
  <cp:lastModifiedBy>Simhan</cp:lastModifiedBy>
  <cp:revision>1</cp:revision>
  <dcterms:created xsi:type="dcterms:W3CDTF">2026-09-20T18:24:53Z</dcterms:created>
  <dcterms:modified xsi:type="dcterms:W3CDTF">2026-09-20T18:24:53Z</dcterms:modified>
</cp:coreProperties>
</file>